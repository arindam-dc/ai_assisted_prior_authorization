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64" r:id="rId6"/>
    <p:sldId id="282" r:id="rId7"/>
    <p:sldId id="284" r:id="rId8"/>
    <p:sldId id="290" r:id="rId9"/>
    <p:sldId id="291" r:id="rId10"/>
    <p:sldId id="293" r:id="rId11"/>
    <p:sldId id="296" r:id="rId12"/>
    <p:sldId id="295" r:id="rId13"/>
    <p:sldId id="297" r:id="rId14"/>
    <p:sldId id="298" r:id="rId15"/>
    <p:sldId id="299" r:id="rId16"/>
    <p:sldId id="300" r:id="rId17"/>
    <p:sldId id="292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2E0E14-71ED-4EFD-80ED-FE29A68895A4}" v="10" dt="2026-06-23T16:16:12.14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879" autoAdjust="0"/>
  </p:normalViewPr>
  <p:slideViewPr>
    <p:cSldViewPr showGuides="1">
      <p:cViewPr>
        <p:scale>
          <a:sx n="78" d="100"/>
          <a:sy n="78" d="100"/>
        </p:scale>
        <p:origin x="591" y="369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akshi Kar" userId="9e5def514c2a6274" providerId="LiveId" clId="{C472AB4C-324D-4BCA-8F0B-755DE003780E}"/>
    <pc:docChg chg="undo custSel delSld modSld">
      <pc:chgData name="Enakshi Kar" userId="9e5def514c2a6274" providerId="LiveId" clId="{C472AB4C-324D-4BCA-8F0B-755DE003780E}" dt="2026-06-23T16:16:01.020" v="281" actId="20577"/>
      <pc:docMkLst>
        <pc:docMk/>
      </pc:docMkLst>
      <pc:sldChg chg="addSp modSp mod">
        <pc:chgData name="Enakshi Kar" userId="9e5def514c2a6274" providerId="LiveId" clId="{C472AB4C-324D-4BCA-8F0B-755DE003780E}" dt="2026-06-23T16:11:24.633" v="134" actId="20577"/>
        <pc:sldMkLst>
          <pc:docMk/>
          <pc:sldMk cId="821325204" sldId="292"/>
        </pc:sldMkLst>
        <pc:spChg chg="add mod">
          <ac:chgData name="Enakshi Kar" userId="9e5def514c2a6274" providerId="LiveId" clId="{C472AB4C-324D-4BCA-8F0B-755DE003780E}" dt="2026-06-23T16:11:24.633" v="134" actId="20577"/>
          <ac:spMkLst>
            <pc:docMk/>
            <pc:sldMk cId="821325204" sldId="292"/>
            <ac:spMk id="4" creationId="{9C77FF87-F52B-2E5C-1189-B5E9F22EA036}"/>
          </ac:spMkLst>
        </pc:spChg>
      </pc:sldChg>
      <pc:sldChg chg="addSp modSp mod">
        <pc:chgData name="Enakshi Kar" userId="9e5def514c2a6274" providerId="LiveId" clId="{C472AB4C-324D-4BCA-8F0B-755DE003780E}" dt="2026-06-23T16:16:01.020" v="281" actId="20577"/>
        <pc:sldMkLst>
          <pc:docMk/>
          <pc:sldMk cId="3530758676" sldId="293"/>
        </pc:sldMkLst>
        <pc:spChg chg="mod">
          <ac:chgData name="Enakshi Kar" userId="9e5def514c2a6274" providerId="LiveId" clId="{C472AB4C-324D-4BCA-8F0B-755DE003780E}" dt="2026-06-23T16:16:01.020" v="281" actId="20577"/>
          <ac:spMkLst>
            <pc:docMk/>
            <pc:sldMk cId="3530758676" sldId="293"/>
            <ac:spMk id="2" creationId="{E3E78AE1-C78D-7898-E161-5450D11A8CC4}"/>
          </ac:spMkLst>
        </pc:spChg>
        <pc:spChg chg="add mod">
          <ac:chgData name="Enakshi Kar" userId="9e5def514c2a6274" providerId="LiveId" clId="{C472AB4C-324D-4BCA-8F0B-755DE003780E}" dt="2026-06-23T15:58:20.519" v="64" actId="404"/>
          <ac:spMkLst>
            <pc:docMk/>
            <pc:sldMk cId="3530758676" sldId="293"/>
            <ac:spMk id="5" creationId="{761421DF-41D0-B976-4603-B2B054111CE0}"/>
          </ac:spMkLst>
        </pc:spChg>
        <pc:spChg chg="add mod">
          <ac:chgData name="Enakshi Kar" userId="9e5def514c2a6274" providerId="LiveId" clId="{C472AB4C-324D-4BCA-8F0B-755DE003780E}" dt="2026-06-23T15:58:40.113" v="67" actId="20577"/>
          <ac:spMkLst>
            <pc:docMk/>
            <pc:sldMk cId="3530758676" sldId="293"/>
            <ac:spMk id="7" creationId="{8CC6653F-F8DD-0D8B-AE80-6D0E21920382}"/>
          </ac:spMkLst>
        </pc:spChg>
      </pc:sldChg>
      <pc:sldChg chg="del">
        <pc:chgData name="Enakshi Kar" userId="9e5def514c2a6274" providerId="LiveId" clId="{C472AB4C-324D-4BCA-8F0B-755DE003780E}" dt="2026-06-23T15:46:49.282" v="0" actId="47"/>
        <pc:sldMkLst>
          <pc:docMk/>
          <pc:sldMk cId="1016788904" sldId="294"/>
        </pc:sldMkLst>
      </pc:sldChg>
      <pc:sldChg chg="modNotesTx">
        <pc:chgData name="Enakshi Kar" userId="9e5def514c2a6274" providerId="LiveId" clId="{C472AB4C-324D-4BCA-8F0B-755DE003780E}" dt="2026-06-23T15:46:54.267" v="1" actId="6549"/>
        <pc:sldMkLst>
          <pc:docMk/>
          <pc:sldMk cId="1272117265" sldId="295"/>
        </pc:sldMkLst>
      </pc:sldChg>
      <pc:sldChg chg="addSp modSp mod">
        <pc:chgData name="Enakshi Kar" userId="9e5def514c2a6274" providerId="LiveId" clId="{C472AB4C-324D-4BCA-8F0B-755DE003780E}" dt="2026-06-23T16:03:17.630" v="131" actId="12"/>
        <pc:sldMkLst>
          <pc:docMk/>
          <pc:sldMk cId="2336038100" sldId="296"/>
        </pc:sldMkLst>
        <pc:spChg chg="add mod">
          <ac:chgData name="Enakshi Kar" userId="9e5def514c2a6274" providerId="LiveId" clId="{C472AB4C-324D-4BCA-8F0B-755DE003780E}" dt="2026-06-23T16:03:17.630" v="131" actId="12"/>
          <ac:spMkLst>
            <pc:docMk/>
            <pc:sldMk cId="2336038100" sldId="296"/>
            <ac:spMk id="3" creationId="{A27DF828-0A28-0FF8-C97F-250C66A717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6/23/2026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6/23/2026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2899-9C9D-F072-8BED-ECC74CA0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2A378-A63C-5C4F-521D-3D0997ED2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F79CE-67AD-7066-E3C7-0FBB16465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F34AF-C5E1-34B1-9E05-D687720B6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19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27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08AF-9CDF-8296-2CAA-517A7732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5E896-42FC-EDF2-AEC6-A95572EBB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F7CCC-6DF0-E7A5-275F-E89DC9F6F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1E4BB-6E6A-6738-0879-1AC94B34F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726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0D1A-666B-F1E0-A845-D269D989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B5549-40CB-26EC-B83A-CA0717C20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32406-2DBC-A3A5-BE83-62EA20384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A0506-7D09-E5C1-946B-7A60BD902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44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8D994-0F05-E81C-1818-6E961BE7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2DC04-89AE-E720-2C5D-53C0A449C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E9640-1E67-2A3C-867F-858074BF6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C1FA0-7135-5CE5-3739-198622E10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02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09FB-007A-B71E-C84E-FA03427D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21C503-0634-B3A1-5D96-D5AA562F7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D479A-50E6-A6F8-68F6-B90B48051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95042-862D-B6B1-F62C-06430727E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86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uild.fhir.org/ig/HL7/davinci-pas/en/" TargetMode="Externa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indamduttachoudhury.lovable.app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IN" dirty="0"/>
              <a:t>Interoperability Platform Strategy for Health Plans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dirty="0"/>
              <a:t>Arindam Dutta Choudhury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vert="horz" lIns="91416" tIns="45708" rIns="91416" bIns="45708" rtlCol="0" anchor="ctr">
            <a:noAutofit/>
          </a:bodyPr>
          <a:lstStyle/>
          <a:p>
            <a:r>
              <a:rPr lang="en-US" sz="1400" b="1" dirty="0"/>
              <a:t>Problem Statement</a:t>
            </a:r>
          </a:p>
          <a:p>
            <a:r>
              <a:rPr lang="en-US" sz="1400" b="1" dirty="0"/>
              <a:t>Vision</a:t>
            </a:r>
          </a:p>
          <a:p>
            <a:r>
              <a:rPr lang="en-US" sz="1400" b="1" dirty="0"/>
              <a:t>Market Drivers</a:t>
            </a:r>
          </a:p>
          <a:p>
            <a:r>
              <a:rPr lang="en-US" sz="1400" b="1" dirty="0"/>
              <a:t>Platform strategy</a:t>
            </a:r>
          </a:p>
          <a:p>
            <a:r>
              <a:rPr lang="en-US" sz="1400" b="1" dirty="0"/>
              <a:t>Solution Workflow</a:t>
            </a:r>
          </a:p>
          <a:p>
            <a:r>
              <a:rPr lang="en-US" sz="1400" b="1" dirty="0"/>
              <a:t>UX</a:t>
            </a:r>
          </a:p>
          <a:p>
            <a:r>
              <a:rPr lang="en-US" sz="1400" b="1" dirty="0"/>
              <a:t>Key Metrics</a:t>
            </a:r>
          </a:p>
          <a:p>
            <a:r>
              <a:rPr lang="en-US" sz="1400" b="1" dirty="0"/>
              <a:t>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1676400"/>
          </a:xfrm>
        </p:spPr>
        <p:txBody>
          <a:bodyPr anchor="b">
            <a:normAutofit/>
          </a:bodyPr>
          <a:lstStyle/>
          <a:p>
            <a:r>
              <a:rPr lang="en-US" dirty="0"/>
              <a:t>Interoperability Platform Strategy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B989A75-8BF6-6DE9-1AB9-424401DB3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3" y="3429000"/>
            <a:ext cx="5562600" cy="1828800"/>
          </a:xfrm>
        </p:spPr>
        <p:txBody>
          <a:bodyPr>
            <a:normAutofit/>
          </a:bodyPr>
          <a:lstStyle/>
          <a:p>
            <a:r>
              <a:rPr lang="en-US" sz="1800" dirty="0"/>
              <a:t>Modernizing Prior Authorization &amp; Care-Coordination​</a:t>
            </a:r>
          </a:p>
          <a:p>
            <a:r>
              <a:rPr lang="en-US" sz="1800" dirty="0"/>
              <a:t>For Health Plans (Commercial, MA, Medicaid)​</a:t>
            </a:r>
          </a:p>
          <a:p>
            <a:r>
              <a:rPr lang="en-US" sz="1800" dirty="0"/>
              <a:t>Assumptions: mid-large plans, legacy-heavy, value-based shift</a:t>
            </a:r>
          </a:p>
        </p:txBody>
      </p:sp>
      <p:pic>
        <p:nvPicPr>
          <p:cNvPr id="45" name="Picture Placeholder 44" descr="Chart on a mobile device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/>
        </p:blipFill>
        <p:spPr>
          <a:xfrm>
            <a:off x="7765046" y="883471"/>
            <a:ext cx="2439096" cy="5091059"/>
          </a:xfr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2E986-9D7B-19D4-F7A1-31FE3C36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/>
              <a:t>Fragmented Workflows (Portal, Fax, Phone):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Administrative tasks are siloed across disconnected channels, forcing staff to pivot between legacy portals, physical faxes, and manual phone calls.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Provider Friction &amp; Delays: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Manual interactions create severe operational bottlenecks, delaying patient care and damaging payer-provider relationships.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Limited APIs and Interoperability: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 </a:t>
            </a:r>
            <a:r>
              <a:rPr lang="en-US" sz="1400" b="0" dirty="0"/>
              <a:t>Legacy utilization management and claims engines lack modern API capabilities, trapping critical clinical data in siloed systems.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Manual UM Processes Drive Cost &amp; Poor Experience: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 </a:t>
            </a:r>
            <a:r>
              <a:rPr lang="en-US" sz="1400" b="0" dirty="0"/>
              <a:t>High-touch clinical reviews inflate operational overhead for health plans while keeping members in the dark regarding their care status. </a:t>
            </a:r>
          </a:p>
        </p:txBody>
      </p:sp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FDE5-7313-8EB0-2F80-E8DDDE26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D7D592-D566-1353-D976-AED5ABD2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Vision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E0ACA4-04BB-1F1E-66DA-4504B2FC7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/>
              <a:t>Unified Interoperability Platform Enrolling Real-Time, API-First Prior Authorization: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Establishing a modern, FHIR-native gateway that transforms prior authorization from a lagging administrative burden into an instantaneous digital transaction. 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Seamless Provider Experience: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Embedding directly into provider EHR systems to eliminate manual data re-entry and portal hopping. 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Reduced Administrative Burden: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Automating routine intake, policy lookups, and routing to drastically lower operational costs for health plans. 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Improved Member Outcomes: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Accelerating care delivery timelines to ensure members receive necessary treatments without unnecessary administrative delays.</a:t>
            </a:r>
          </a:p>
        </p:txBody>
      </p:sp>
    </p:spTree>
    <p:extLst>
      <p:ext uri="{BB962C8B-B14F-4D97-AF65-F5344CB8AC3E}">
        <p14:creationId xmlns:p14="http://schemas.microsoft.com/office/powerpoint/2010/main" val="286159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CCEA-630A-65E3-1C6A-9E90DBA0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877531-A708-9872-0994-D7EC4DCE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Market Drivers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DDC866-81CB-354D-F7F5-FBA24145F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/>
              <a:t>CMS Interoperability Mandates (FHIR APIs):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Strict federal regulations (like CMS-0057-F) legally require health plans to deploy standardized FHIR APIs for prior authorization and data exchange.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Provider Abrasion Reduction: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 </a:t>
            </a:r>
            <a:r>
              <a:rPr lang="en-US" sz="1400" b="0" dirty="0"/>
              <a:t>Accelerating market demand from health systems for payers to eliminate administrative friction and simplify authorization workflows. 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Shift to Value-Based Care: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Increased industry focus on collaborative care requires real-time, transparent data sharing between payers and providers. 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Cost Pressure on Health Plans: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 </a:t>
            </a:r>
            <a:r>
              <a:rPr lang="en-US" sz="1400" b="0" dirty="0"/>
              <a:t>Rising operational expenses necessitate a shift away from manual, resource-intensive utilization management toward automated workflows.</a:t>
            </a:r>
          </a:p>
        </p:txBody>
      </p:sp>
    </p:spTree>
    <p:extLst>
      <p:ext uri="{BB962C8B-B14F-4D97-AF65-F5344CB8AC3E}">
        <p14:creationId xmlns:p14="http://schemas.microsoft.com/office/powerpoint/2010/main" val="3682567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C8D7-39CE-5D42-4E69-D5C7F68E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467F17-0548-6A35-B9F6-8956F0D51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Platform Strategy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E78AE1-C78D-7898-E161-5450D11A8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990600"/>
            <a:ext cx="5486400" cy="39624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/>
              <a:t>API-First Architecture (FHIR-Native):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Built from the ground up on modern HL7 FHIR (</a:t>
            </a:r>
            <a:r>
              <a:rPr lang="en-US" sz="1400" b="0" dirty="0">
                <a:hlinkClick r:id="rId2"/>
              </a:rPr>
              <a:t>FHIR PAS</a:t>
            </a:r>
            <a:r>
              <a:rPr lang="en-US" sz="1400" b="0" dirty="0"/>
              <a:t>) standards to ensure seamless, real-time data ingestion and compliance.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Modular Services (PA, UM, Care </a:t>
            </a:r>
            <a:r>
              <a:rPr lang="en-US" sz="1400" dirty="0" err="1"/>
              <a:t>Mgmt</a:t>
            </a:r>
            <a:r>
              <a:rPr lang="en-US" sz="1400" dirty="0"/>
              <a:t>):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A decoupled service layer allowing health plans to flexibly orchestrate prior authorization, utilization management, and care coordination.  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Reduce EDI X12278 Footprint: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Create internal mapping to cater to existing IBs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Developer Ecosystem (Partners, Providers): </a:t>
            </a:r>
          </a:p>
          <a:p>
            <a:pPr algn="just">
              <a:lnSpc>
                <a:spcPct val="100000"/>
              </a:lnSpc>
            </a:pPr>
            <a:r>
              <a:rPr lang="en-US" sz="1400" b="0" dirty="0"/>
              <a:t>Exposing robust, well-documented APIs to allow health systems and third-party vendors to easily connect to our ecosystem.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421DF-41D0-B976-4603-B2B054111CE0}"/>
              </a:ext>
            </a:extLst>
          </p:cNvPr>
          <p:cNvSpPr txBox="1"/>
          <p:nvPr/>
        </p:nvSpPr>
        <p:spPr>
          <a:xfrm>
            <a:off x="7237412" y="945085"/>
            <a:ext cx="4343400" cy="2369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effectLst/>
              </a:rPr>
              <a:t>Current State (Typical Payer)</a:t>
            </a:r>
          </a:p>
          <a:p>
            <a:pPr>
              <a:buNone/>
            </a:pPr>
            <a:r>
              <a:rPr lang="en-US" b="1" dirty="0">
                <a:effectLst/>
              </a:rPr>
              <a:t>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278-based EDI transactions (batch-oriented) 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Heavy manual workflows (fax, portal, call center) 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Fragmented UM rules + inconsistent denial logic 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Limited real-time visibility for providers 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Weak data exchange across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 SLA tracking not enforced systematically 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6653F-F8DD-0D8B-AE80-6D0E21920382}"/>
              </a:ext>
            </a:extLst>
          </p:cNvPr>
          <p:cNvSpPr txBox="1"/>
          <p:nvPr/>
        </p:nvSpPr>
        <p:spPr>
          <a:xfrm>
            <a:off x="7258326" y="3405987"/>
            <a:ext cx="4343400" cy="25237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effectLst/>
              </a:rPr>
              <a:t>Target State (CMS-Aligned PA Platform)</a:t>
            </a:r>
          </a:p>
          <a:p>
            <a:pPr>
              <a:buNone/>
            </a:pPr>
            <a:r>
              <a:rPr lang="en-US" sz="1600" b="1" dirty="0">
                <a:effectLst/>
              </a:rPr>
              <a:t> 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API-first (FHIR-based PAS + CRD + DTR) 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Real-time decisioning and workflow orchestration 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Fully automated documentation collection 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Standardized clinical rules + explainable decisions 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Cross-payer data exchange (continuity of care) 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 Transparent reporting + SLA compliance</a:t>
            </a:r>
          </a:p>
        </p:txBody>
      </p:sp>
    </p:spTree>
    <p:extLst>
      <p:ext uri="{BB962C8B-B14F-4D97-AF65-F5344CB8AC3E}">
        <p14:creationId xmlns:p14="http://schemas.microsoft.com/office/powerpoint/2010/main" val="353075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1C3A-F2AF-50E7-4013-DBA7C63B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365137-D938-8CB3-65BE-FB3934E0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Solution Workflow (End-to-End)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62DF17-E2B8-5F1A-AB39-D03836577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Provider Initiates Order in EHR (Triggering CRD): </a:t>
            </a:r>
            <a:r>
              <a:rPr lang="en-US" sz="1400" b="0" dirty="0"/>
              <a:t>The clinician begins a treatment or medication order within their native EHR, automatically triggering an immediate, background query to the plan's policy engine.</a:t>
            </a:r>
          </a:p>
          <a:p>
            <a:pPr algn="just"/>
            <a:r>
              <a:rPr lang="en-US" sz="1400" dirty="0"/>
              <a:t>Real-Time Eligibility, Coverage, &amp; Policy Check: </a:t>
            </a:r>
            <a:r>
              <a:rPr lang="en-US" sz="1400" b="0" dirty="0"/>
              <a:t>The platform instantly evaluates coverage rules via Da Vinci CRD, signaling to the provider whether prior authorization is required or if lower-cost alternatives exist.</a:t>
            </a:r>
          </a:p>
          <a:p>
            <a:pPr algn="just"/>
            <a:r>
              <a:rPr lang="en-US" sz="1400" dirty="0"/>
              <a:t>Automated Documentation Gathering (DTR): </a:t>
            </a:r>
            <a:r>
              <a:rPr lang="en-US" sz="1400" b="0" dirty="0"/>
              <a:t>If required, a dynamic checklist is surfaced directly within the EHR via Da Vinci DTR, auto-populating form templates using existing clinical records to prove medical necessity.</a:t>
            </a:r>
          </a:p>
          <a:p>
            <a:pPr algn="just"/>
            <a:r>
              <a:rPr lang="en-US" sz="1400" dirty="0"/>
              <a:t>PA Submission via Standardized API (PAS): </a:t>
            </a:r>
            <a:r>
              <a:rPr lang="en-US" sz="1400" b="0" dirty="0"/>
              <a:t>Once documentation is confirmed, the system packages the complete bundle and transmits the formal request electronically using the Da Vinci PAS API.</a:t>
            </a:r>
          </a:p>
          <a:p>
            <a:pPr algn="just"/>
            <a:r>
              <a:rPr lang="en-US" sz="1400" dirty="0"/>
              <a:t>Instant Auto-Decisioning &amp; Exception Routing: </a:t>
            </a:r>
            <a:r>
              <a:rPr lang="en-US" sz="1400" b="0" dirty="0"/>
              <a:t>The health plan’s automated rules engine reviews the structured data payload to issue an immediate approval; if complex criteria are unmet, it escalates to clinical review with pre-mapped evidence.</a:t>
            </a:r>
          </a:p>
          <a:p>
            <a:pPr algn="just"/>
            <a:r>
              <a:rPr lang="en-US" sz="1400" dirty="0"/>
              <a:t>Omnichannel Decision Delivery &amp; Notification: </a:t>
            </a:r>
            <a:r>
              <a:rPr lang="en-US" sz="1400" b="0" dirty="0"/>
              <a:t>The final determination is simultaneously pushed straight back into the provider's EHR interface and delivered digitally to the member via their secure plan app</a:t>
            </a:r>
            <a:r>
              <a:rPr lang="en-US" sz="1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DF828-0A28-0FF8-C97F-250C66A71745}"/>
              </a:ext>
            </a:extLst>
          </p:cNvPr>
          <p:cNvSpPr txBox="1"/>
          <p:nvPr/>
        </p:nvSpPr>
        <p:spPr>
          <a:xfrm>
            <a:off x="954694" y="6172200"/>
            <a:ext cx="31242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CRD - Coverage Requirements Discovery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DTR - Documentation Templates and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PAS- Prior Authorization Support      </a:t>
            </a:r>
          </a:p>
        </p:txBody>
      </p:sp>
    </p:spTree>
    <p:extLst>
      <p:ext uri="{BB962C8B-B14F-4D97-AF65-F5344CB8AC3E}">
        <p14:creationId xmlns:p14="http://schemas.microsoft.com/office/powerpoint/2010/main" val="233603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8494-1561-DDD4-477C-9F789941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EA285-783D-921C-E74D-14C4B8FB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Solution Workflow (End-to-End)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90582-9408-0B2F-F055-954F92E00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12" y="1143000"/>
            <a:ext cx="10168358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1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0F38-3D77-3E04-2B84-DBF0BDCE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968C71-B734-496C-950A-B5853F2C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User Experience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830B44-77E0-023B-7FF3-D1210357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Providers (EHR-Integrated, No Portals/Fax): </a:t>
            </a:r>
          </a:p>
          <a:p>
            <a:pPr algn="just"/>
            <a:r>
              <a:rPr lang="en-US" sz="1400" b="0" dirty="0"/>
              <a:t>Work entirely within their preferred software, achieving immediate visibility into coverage rules without external logins. </a:t>
            </a:r>
          </a:p>
          <a:p>
            <a:pPr algn="just"/>
            <a:r>
              <a:rPr lang="en-US" sz="1400" dirty="0"/>
              <a:t>Health Plans (Automation + Visibility + Controls): </a:t>
            </a:r>
          </a:p>
          <a:p>
            <a:pPr algn="just"/>
            <a:r>
              <a:rPr lang="en-US" sz="1400" b="0" dirty="0"/>
              <a:t>Gain a centralized dashboard to track automated workflows, manage exceptions, and configure clinical policies. </a:t>
            </a:r>
          </a:p>
          <a:p>
            <a:pPr algn="just"/>
            <a:r>
              <a:rPr lang="en-US" sz="1400" dirty="0"/>
              <a:t>Members (Transparency, Real-Time Updates):</a:t>
            </a:r>
          </a:p>
          <a:p>
            <a:pPr algn="just"/>
            <a:r>
              <a:rPr lang="en-US" sz="1400" dirty="0"/>
              <a:t> </a:t>
            </a:r>
            <a:r>
              <a:rPr lang="en-US" sz="1400" b="0" dirty="0"/>
              <a:t>Experience faster access to care and clear, upfront visibility into their approval statuses and out-of-pocket responsibilities. </a:t>
            </a:r>
          </a:p>
        </p:txBody>
      </p:sp>
    </p:spTree>
    <p:extLst>
      <p:ext uri="{BB962C8B-B14F-4D97-AF65-F5344CB8AC3E}">
        <p14:creationId xmlns:p14="http://schemas.microsoft.com/office/powerpoint/2010/main" val="283307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CCBD-BC6C-FDB8-914D-678C5D84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476BDB-9BEF-3921-D5C2-DA4E4001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Prioritization Roadmap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F347AA-8234-3CFA-D274-22C98FAB6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r>
              <a:rPr lang="en-US" sz="1400" dirty="0"/>
              <a:t>Phase 1 (Point-of-Care Discovery - CRD/DTR): </a:t>
            </a:r>
          </a:p>
          <a:p>
            <a:r>
              <a:rPr lang="en-US" sz="1400" b="0" dirty="0"/>
              <a:t>Build the core FHIR-native gateway and launch real-time coverage lookup (CRD) and automated documentation checklists (DTR) directly within provider EHRs</a:t>
            </a:r>
            <a:r>
              <a:rPr lang="en-US" sz="1400" dirty="0"/>
              <a:t>.</a:t>
            </a:r>
          </a:p>
          <a:p>
            <a:r>
              <a:rPr lang="en-US" sz="1400" dirty="0"/>
              <a:t>Phase 2 (Automated Submission &amp; Intake - PAS): </a:t>
            </a:r>
          </a:p>
          <a:p>
            <a:r>
              <a:rPr lang="en-US" sz="1400" b="0" dirty="0"/>
              <a:t>Roll out standardized prior authorization submission APIs (PAS) to entirely eliminate legacy web portals and manual fax ingestion channels.</a:t>
            </a:r>
          </a:p>
          <a:p>
            <a:r>
              <a:rPr lang="en-US" sz="1400" dirty="0"/>
              <a:t>Phase 3 (Rules-Based Auto-Decisioning): </a:t>
            </a:r>
          </a:p>
          <a:p>
            <a:r>
              <a:rPr lang="en-US" sz="1400" b="0" dirty="0"/>
              <a:t>Implement the core deterministic policy engine to instantly auto-approve high-volume, highly compliant diagnostic and procedure codes.</a:t>
            </a:r>
          </a:p>
          <a:p>
            <a:r>
              <a:rPr lang="en-US" sz="1400" dirty="0"/>
              <a:t>Phase 4 (AI Clinical Review &amp; Care Coordination): </a:t>
            </a:r>
          </a:p>
          <a:p>
            <a:r>
              <a:rPr lang="en-US" sz="1400" b="0" dirty="0"/>
              <a:t>Integrate advanced NLP to digest unstructured EHR chart notes for exception routing, while connecting authorization data straight into longitudinal care management.</a:t>
            </a:r>
          </a:p>
        </p:txBody>
      </p:sp>
    </p:spTree>
    <p:extLst>
      <p:ext uri="{BB962C8B-B14F-4D97-AF65-F5344CB8AC3E}">
        <p14:creationId xmlns:p14="http://schemas.microsoft.com/office/powerpoint/2010/main" val="3950138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6CC3-CCCC-7C7B-E036-B2CE93CB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D6EF03-1B70-15A6-F09A-B9DAB123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Key Metrics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F5E1AF-3628-9E69-F8FA-3CAF649C4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r>
              <a:rPr lang="en-US" sz="1400" dirty="0"/>
              <a:t>CRD-to-PAS Conversion Rate: </a:t>
            </a:r>
          </a:p>
          <a:p>
            <a:r>
              <a:rPr lang="en-US" sz="1400" b="0" dirty="0"/>
              <a:t>Monitor the percentage of automated policy lookups that cleanly progress to digital submissions without falling back to manual faxes.</a:t>
            </a:r>
          </a:p>
          <a:p>
            <a:r>
              <a:rPr lang="en-US" sz="1400" dirty="0"/>
              <a:t>Zero-Touch Auto-Approval Rate: </a:t>
            </a:r>
          </a:p>
          <a:p>
            <a:r>
              <a:rPr lang="en-US" sz="1400" b="0" dirty="0"/>
              <a:t>Measure the percentage of prior authorization requests instantly adjudicated by the rules engine without human intervention.</a:t>
            </a:r>
          </a:p>
          <a:p>
            <a:r>
              <a:rPr lang="en-US" sz="1400" dirty="0"/>
              <a:t>Provider Workflow Interruption (NPS): </a:t>
            </a:r>
          </a:p>
          <a:p>
            <a:r>
              <a:rPr lang="en-US" sz="1400" b="0" dirty="0"/>
              <a:t>Track clinician satisfaction by measuring time saved from eliminating external portal logins and manual data re-entry.</a:t>
            </a:r>
          </a:p>
          <a:p>
            <a:r>
              <a:rPr lang="en-US" sz="1400" dirty="0"/>
              <a:t>Average Adjudication Turnaround Time (TAT): </a:t>
            </a:r>
          </a:p>
          <a:p>
            <a:r>
              <a:rPr lang="en-US" sz="1400" b="0" dirty="0"/>
              <a:t>Shrink the administrative timeline from a multi-day standard down to mere seconds for automated rules.</a:t>
            </a:r>
          </a:p>
          <a:p>
            <a:r>
              <a:rPr lang="en-US" sz="1400" dirty="0"/>
              <a:t>Unit Cost Per Authorization: </a:t>
            </a:r>
          </a:p>
          <a:p>
            <a:r>
              <a:rPr lang="en-US" sz="1400" b="0" dirty="0"/>
              <a:t>Track operational overhead reductions achieved by shifting staff from manual triage to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69697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D577-9C71-B1FD-ED12-C2BEDB6D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479119-17D1-BE02-1CEE-A941308D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304800"/>
            <a:ext cx="6400800" cy="609600"/>
          </a:xfrm>
        </p:spPr>
        <p:txBody>
          <a:bodyPr/>
          <a:lstStyle/>
          <a:p>
            <a:r>
              <a:rPr lang="en-US" dirty="0"/>
              <a:t>Differentiation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5D8A94-BCC2-3F00-8EF7-630EC606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5212" y="1295400"/>
            <a:ext cx="10134600" cy="3962400"/>
          </a:xfrm>
        </p:spPr>
        <p:txBody>
          <a:bodyPr>
            <a:noAutofit/>
          </a:bodyPr>
          <a:lstStyle/>
          <a:p>
            <a:r>
              <a:rPr lang="en-US" sz="1400" dirty="0"/>
              <a:t>True FHIR-Native Architecture: </a:t>
            </a:r>
          </a:p>
          <a:p>
            <a:r>
              <a:rPr lang="en-US" sz="1400" b="0" dirty="0"/>
              <a:t>Avoids brittle API "facades" on top of legacy systems by adopting the official HL7 Da Vinci standard across the entire data lifecycle.</a:t>
            </a:r>
          </a:p>
          <a:p>
            <a:r>
              <a:rPr lang="en-US" sz="1400" dirty="0"/>
              <a:t>Seamless Closed-Loop EHR Integration:</a:t>
            </a:r>
          </a:p>
          <a:p>
            <a:r>
              <a:rPr lang="en-US" sz="1400" dirty="0"/>
              <a:t> </a:t>
            </a:r>
            <a:r>
              <a:rPr lang="en-US" sz="1400" b="0" dirty="0"/>
              <a:t>Drives 100% provider adoption by delivering coverage rules and forms directly to the clinician </a:t>
            </a:r>
            <a:r>
              <a:rPr lang="en-US" sz="1400" b="0" i="1" dirty="0"/>
              <a:t>before</a:t>
            </a:r>
            <a:r>
              <a:rPr lang="en-US" sz="1400" b="0" dirty="0"/>
              <a:t> submission.</a:t>
            </a:r>
          </a:p>
          <a:p>
            <a:r>
              <a:rPr lang="en-US" sz="1400" dirty="0"/>
              <a:t>Deterministic Rules Paired with AI Assist: </a:t>
            </a:r>
          </a:p>
          <a:p>
            <a:r>
              <a:rPr lang="en-US" sz="1400" b="0" dirty="0"/>
              <a:t>Blends immediate, rule-based auto-approvals with intelligent clinical extraction to tackle complex, unstructured clinical documentation.</a:t>
            </a:r>
          </a:p>
          <a:p>
            <a:r>
              <a:rPr lang="en-US" sz="1400" dirty="0"/>
              <a:t>Unified UM, Claims, and Care Management:</a:t>
            </a:r>
          </a:p>
          <a:p>
            <a:r>
              <a:rPr lang="en-US" sz="1400" dirty="0"/>
              <a:t> </a:t>
            </a:r>
            <a:r>
              <a:rPr lang="en-US" sz="1400" b="0" dirty="0"/>
              <a:t>Eradicates payer operational silos by ensuring the prior authorization perfectly matches the downstream claims adjudication engine.</a:t>
            </a:r>
          </a:p>
        </p:txBody>
      </p:sp>
    </p:spTree>
    <p:extLst>
      <p:ext uri="{BB962C8B-B14F-4D97-AF65-F5344CB8AC3E}">
        <p14:creationId xmlns:p14="http://schemas.microsoft.com/office/powerpoint/2010/main" val="381327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3723-8263-DB9C-D842-53742A8B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7FF87-F52B-2E5C-1189-B5E9F22EA036}"/>
              </a:ext>
            </a:extLst>
          </p:cNvPr>
          <p:cNvSpPr txBox="1"/>
          <p:nvPr/>
        </p:nvSpPr>
        <p:spPr>
          <a:xfrm>
            <a:off x="760412" y="5486400"/>
            <a:ext cx="6093954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https://arindamduttachoudhury.lovable.app/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3252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2006/documentManagement/types"/>
    <ds:schemaRef ds:uri="230e9df3-be65-4c73-a93b-d1236ebd677e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16c05727-aa75-4e4a-9b5f-8a80a1165891"/>
    <ds:schemaRef ds:uri="http://schemas.microsoft.com/sharepoint/v3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128</TotalTime>
  <Words>1229</Words>
  <Application>Microsoft Office PowerPoint</Application>
  <PresentationFormat>Custom</PresentationFormat>
  <Paragraphs>123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Palatino Linotype</vt:lpstr>
      <vt:lpstr>Custom</vt:lpstr>
      <vt:lpstr>Interoperability Platform Strategy for Health Plans</vt:lpstr>
      <vt:lpstr>Agenda</vt:lpstr>
      <vt:lpstr>Interoperability Platform Strategy</vt:lpstr>
      <vt:lpstr>Problem Statement</vt:lpstr>
      <vt:lpstr>Vision</vt:lpstr>
      <vt:lpstr>Market Drivers</vt:lpstr>
      <vt:lpstr>Platform Strategy</vt:lpstr>
      <vt:lpstr>Solution Workflow (End-to-End)</vt:lpstr>
      <vt:lpstr>Solution Workflow (End-to-End)</vt:lpstr>
      <vt:lpstr>User Experience</vt:lpstr>
      <vt:lpstr>Prioritization Roadmap</vt:lpstr>
      <vt:lpstr>Key Metrics</vt:lpstr>
      <vt:lpstr>Differentiation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Payer side Technology</dc:title>
  <dc:creator>Arindam Dutta Choudhury</dc:creator>
  <cp:keywords>choudhury22@gmail.com</cp:keywords>
  <cp:lastModifiedBy>Enakshi Kar</cp:lastModifiedBy>
  <cp:revision>1</cp:revision>
  <dcterms:created xsi:type="dcterms:W3CDTF">2026-06-23T14:04:01Z</dcterms:created>
  <dcterms:modified xsi:type="dcterms:W3CDTF">2026-06-23T16:17:36Z</dcterms:modified>
  <cp:category>Product Management</cp:category>
  <cp:contentStatus>Final</cp:contentStatus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  <property fmtid="{D5CDD505-2E9C-101B-9397-08002B2CF9AE}" pid="13" name="_MarkAsFinal">
    <vt:bool>true</vt:bool>
  </property>
</Properties>
</file>